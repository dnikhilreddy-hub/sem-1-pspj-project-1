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Quattrocento Sans"/>
      <p:bold r:id="rId15"/>
      <p:boldItalic r:id="rId16"/>
    </p:embeddedFont>
    <p:embeddedFont>
      <p:font typeface="JetBrains Mono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1EE3C9-4827-431A-864D-2CC10E27885D}">
  <a:tblStyle styleId="{9C1EE3C9-4827-431A-864D-2CC10E27885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QuattrocentoSans-bold.fntdata"/><Relationship Id="rId14" Type="http://schemas.openxmlformats.org/officeDocument/2006/relationships/slide" Target="slides/slide8.xml"/><Relationship Id="rId17" Type="http://schemas.openxmlformats.org/officeDocument/2006/relationships/font" Target="fonts/JetBrainsMono-bold.fntdata"/><Relationship Id="rId16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JetBrains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331b2360993a431e_1_68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h331b2360993a431e_1_68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331b2360993a431e_1_68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331b2360993a431e_1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h331b2360993a431e_1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h331b2360993a431e_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h331b2360993a431e_1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h331b2360993a431e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/>
          <p:cNvPicPr preferRelativeResize="0"/>
          <p:nvPr/>
        </p:nvPicPr>
        <p:blipFill rotWithShape="1">
          <a:blip r:embed="rId4">
            <a:alphaModFix/>
          </a:blip>
          <a:srcRect b="26459" l="0" r="0" t="26454"/>
          <a:stretch/>
        </p:blipFill>
        <p:spPr>
          <a:xfrm>
            <a:off x="5143500" y="381000"/>
            <a:ext cx="1905000" cy="6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286000" y="1190625"/>
            <a:ext cx="7620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382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Solving Using Programming (Java) • 26SC1101E</a:t>
            </a:r>
            <a:endParaRPr b="1" sz="1400">
              <a:solidFill>
                <a:srgbClr val="5382A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952500" y="1571625"/>
            <a:ext cx="10287000" cy="8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F898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Restaurant Billing System</a:t>
            </a:r>
            <a:endParaRPr b="1" sz="5200">
              <a:solidFill>
                <a:srgbClr val="F8982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2857500" y="2428875"/>
            <a:ext cx="6477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E6EDF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Java Console Application</a:t>
            </a:r>
            <a:endParaRPr b="0" sz="2000">
              <a:solidFill>
                <a:srgbClr val="E6EDF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89" name="Google Shape;89;p14"/>
          <p:cNvGrpSpPr/>
          <p:nvPr/>
        </p:nvGrpSpPr>
        <p:grpSpPr>
          <a:xfrm>
            <a:off x="1333500" y="3143250"/>
            <a:ext cx="4572000" cy="2190900"/>
            <a:chOff x="0" y="0"/>
            <a:chExt cx="4572000" cy="2190900"/>
          </a:xfrm>
        </p:grpSpPr>
        <p:sp>
          <p:nvSpPr>
            <p:cNvPr id="90" name="Google Shape;90;p14"/>
            <p:cNvSpPr/>
            <p:nvPr/>
          </p:nvSpPr>
          <p:spPr>
            <a:xfrm>
              <a:off x="0" y="0"/>
              <a:ext cx="4572000" cy="2190900"/>
            </a:xfrm>
            <a:prstGeom prst="roundRect">
              <a:avLst>
                <a:gd fmla="val 5217" name="adj"/>
              </a:avLst>
            </a:prstGeom>
            <a:solidFill>
              <a:srgbClr val="161B22"/>
            </a:solidFill>
            <a:ln cap="flat" cmpd="sng" w="1430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152400" y="15240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323850" y="15240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495300" y="15240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4" name="Google Shape;94;p14"/>
            <p:cNvCxnSpPr/>
            <p:nvPr/>
          </p:nvCxnSpPr>
          <p:spPr>
            <a:xfrm>
              <a:off x="0" y="419100"/>
              <a:ext cx="457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" name="Google Shape;95;p14"/>
            <p:cNvSpPr txBox="1"/>
            <p:nvPr/>
          </p:nvSpPr>
          <p:spPr>
            <a:xfrm>
              <a:off x="762000" y="95250"/>
              <a:ext cx="304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team_lead.java</a:t>
              </a:r>
              <a:endParaRPr b="0" sz="110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1524000" y="3714750"/>
            <a:ext cx="4191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98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Gangavarapu Yasaswi Ram</a:t>
            </a:r>
            <a:endParaRPr b="1" sz="1800">
              <a:solidFill>
                <a:srgbClr val="F8982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524000" y="4048125"/>
            <a:ext cx="4191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ID: 2620040139</a:t>
            </a:r>
            <a:endParaRPr b="0" sz="1200">
              <a:solidFill>
                <a:srgbClr val="8B949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524000" y="4381500"/>
            <a:ext cx="4191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38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Lead: CO2, CO1 (Control Flow) &amp; Co-Coding</a:t>
            </a:r>
            <a:endParaRPr b="1" sz="1300">
              <a:solidFill>
                <a:srgbClr val="5382A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99" name="Google Shape;99;p14"/>
          <p:cNvGrpSpPr/>
          <p:nvPr/>
        </p:nvGrpSpPr>
        <p:grpSpPr>
          <a:xfrm>
            <a:off x="6286500" y="3143250"/>
            <a:ext cx="4572000" cy="2190900"/>
            <a:chOff x="0" y="0"/>
            <a:chExt cx="4572000" cy="2190900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4572000" cy="2190900"/>
            </a:xfrm>
            <a:prstGeom prst="roundRect">
              <a:avLst>
                <a:gd fmla="val 5217" name="adj"/>
              </a:avLst>
            </a:prstGeom>
            <a:solidFill>
              <a:srgbClr val="161B22"/>
            </a:solidFill>
            <a:ln cap="flat" cmpd="sng" w="1430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152400" y="15240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23850" y="15240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495300" y="15240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4" name="Google Shape;104;p14"/>
            <p:cNvCxnSpPr/>
            <p:nvPr/>
          </p:nvCxnSpPr>
          <p:spPr>
            <a:xfrm>
              <a:off x="0" y="419100"/>
              <a:ext cx="457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14"/>
            <p:cNvSpPr txBox="1"/>
            <p:nvPr/>
          </p:nvSpPr>
          <p:spPr>
            <a:xfrm>
              <a:off x="762000" y="95250"/>
              <a:ext cx="304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contributor.java</a:t>
              </a:r>
              <a:endParaRPr b="0" sz="110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106" name="Google Shape;106;p14"/>
          <p:cNvSpPr txBox="1"/>
          <p:nvPr/>
        </p:nvSpPr>
        <p:spPr>
          <a:xfrm>
            <a:off x="6477000" y="3714750"/>
            <a:ext cx="4191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98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Dondapati Nikhil Reddy</a:t>
            </a:r>
            <a:endParaRPr b="1" sz="1800">
              <a:solidFill>
                <a:srgbClr val="F8982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477000" y="4048125"/>
            <a:ext cx="4191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ID: 2620040119</a:t>
            </a:r>
            <a:endParaRPr b="0" sz="1200">
              <a:solidFill>
                <a:srgbClr val="8B949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477000" y="4381500"/>
            <a:ext cx="4191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38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CO3, CO1 (Basics), Data Collection &amp; Co-Coding</a:t>
            </a:r>
            <a:endParaRPr b="1" sz="1300">
              <a:solidFill>
                <a:srgbClr val="5382A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714750" y="5715000"/>
            <a:ext cx="4762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A0AA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KL University, Bachupally (ECE)</a:t>
            </a:r>
            <a:endParaRPr b="0" sz="1400">
              <a:solidFill>
                <a:srgbClr val="A0AAB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98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This </a:t>
            </a:r>
            <a:r>
              <a:rPr b="1" lang="en-US" sz="3200">
                <a:solidFill>
                  <a:srgbClr val="0D11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Project?</a:t>
            </a:r>
            <a:endParaRPr b="1" sz="3200">
              <a:solidFill>
                <a:srgbClr val="F8982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115" name="Google Shape;115;p15"/>
          <p:cNvGrpSpPr/>
          <p:nvPr/>
        </p:nvGrpSpPr>
        <p:grpSpPr>
          <a:xfrm>
            <a:off x="609600" y="1238250"/>
            <a:ext cx="5257800" cy="3429000"/>
            <a:chOff x="0" y="0"/>
            <a:chExt cx="5257800" cy="3429000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5257800" cy="3429000"/>
            </a:xfrm>
            <a:prstGeom prst="roundRect">
              <a:avLst>
                <a:gd fmla="val 3333" name="adj"/>
              </a:avLst>
            </a:prstGeom>
            <a:solidFill>
              <a:srgbClr val="161B22"/>
            </a:solidFill>
            <a:ln cap="flat" cmpd="sng" w="1430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209550" y="20955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1000" y="2095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552450" y="20955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800100" y="152400"/>
              <a:ext cx="4191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issues.log</a:t>
              </a:r>
              <a:endParaRPr sz="110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cxnSp>
          <p:nvCxnSpPr>
            <p:cNvPr id="121" name="Google Shape;121;p15"/>
            <p:cNvCxnSpPr/>
            <p:nvPr/>
          </p:nvCxnSpPr>
          <p:spPr>
            <a:xfrm>
              <a:off x="0" y="457200"/>
              <a:ext cx="5257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15"/>
            <p:cNvSpPr txBox="1"/>
            <p:nvPr/>
          </p:nvSpPr>
          <p:spPr>
            <a:xfrm>
              <a:off x="266700" y="609600"/>
              <a:ext cx="4724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5F5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Current Issues</a:t>
              </a:r>
              <a:endParaRPr b="1" sz="2000">
                <a:solidFill>
                  <a:srgbClr val="FF5F5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266700" y="1104900"/>
              <a:ext cx="4724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5F5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✕</a:t>
              </a:r>
              <a:r>
                <a:rPr lang="en-US" sz="1400">
                  <a:solidFill>
                    <a:srgbClr val="E6EDF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Manual calculation errors during peak hours.</a:t>
              </a:r>
              <a:endParaRPr sz="1400">
                <a:solidFill>
                  <a:srgbClr val="E6EDF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5F5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✕</a:t>
              </a:r>
              <a:r>
                <a:rPr lang="en-US" sz="1400">
                  <a:solidFill>
                    <a:srgbClr val="E6EDF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Slow service causing customer queues.</a:t>
              </a:r>
              <a:endParaRPr sz="1400">
                <a:solidFill>
                  <a:srgbClr val="E6EDF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5F5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✕</a:t>
              </a:r>
              <a:r>
                <a:rPr lang="en-US" sz="1400">
                  <a:solidFill>
                    <a:srgbClr val="E6EDF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Messy and illegible handwritten slips.</a:t>
              </a:r>
              <a:endParaRPr sz="1400">
                <a:solidFill>
                  <a:srgbClr val="E6EDF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4" name="Google Shape;124;p15"/>
          <p:cNvGrpSpPr/>
          <p:nvPr/>
        </p:nvGrpSpPr>
        <p:grpSpPr>
          <a:xfrm>
            <a:off x="6324600" y="1238250"/>
            <a:ext cx="5257800" cy="3429000"/>
            <a:chOff x="0" y="0"/>
            <a:chExt cx="5257800" cy="3429000"/>
          </a:xfrm>
        </p:grpSpPr>
        <p:sp>
          <p:nvSpPr>
            <p:cNvPr id="125" name="Google Shape;125;p15"/>
            <p:cNvSpPr/>
            <p:nvPr/>
          </p:nvSpPr>
          <p:spPr>
            <a:xfrm>
              <a:off x="0" y="0"/>
              <a:ext cx="5257800" cy="3429000"/>
            </a:xfrm>
            <a:prstGeom prst="roundRect">
              <a:avLst>
                <a:gd fmla="val 3333" name="adj"/>
              </a:avLst>
            </a:prstGeom>
            <a:solidFill>
              <a:srgbClr val="161B22"/>
            </a:solidFill>
            <a:ln cap="flat" cmpd="sng" w="1430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09550" y="209550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81000" y="2095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552450" y="209550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800100" y="152400"/>
              <a:ext cx="4191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solution.java</a:t>
              </a:r>
              <a:endParaRPr sz="110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cxnSp>
          <p:nvCxnSpPr>
            <p:cNvPr id="130" name="Google Shape;130;p15"/>
            <p:cNvCxnSpPr/>
            <p:nvPr/>
          </p:nvCxnSpPr>
          <p:spPr>
            <a:xfrm>
              <a:off x="0" y="457200"/>
              <a:ext cx="5257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" name="Google Shape;131;p15"/>
            <p:cNvSpPr txBox="1"/>
            <p:nvPr/>
          </p:nvSpPr>
          <p:spPr>
            <a:xfrm>
              <a:off x="266700" y="609600"/>
              <a:ext cx="4724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Our Solution</a:t>
              </a:r>
              <a:endParaRPr b="1" sz="2000">
                <a:solidFill>
                  <a:srgbClr val="27C93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266700" y="1104900"/>
              <a:ext cx="4724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✓</a:t>
              </a:r>
              <a:r>
                <a:rPr lang="en-US" sz="1400">
                  <a:solidFill>
                    <a:srgbClr val="E6EDF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Automatic totals using math operators.</a:t>
              </a:r>
              <a:endParaRPr sz="1400">
                <a:solidFill>
                  <a:srgbClr val="E6EDF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✓</a:t>
              </a:r>
              <a:r>
                <a:rPr lang="en-US" sz="1400">
                  <a:solidFill>
                    <a:srgbClr val="E6EDF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Fast, repeatable digital ordering.</a:t>
              </a:r>
              <a:endParaRPr sz="1400">
                <a:solidFill>
                  <a:srgbClr val="E6EDF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7C93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✓</a:t>
              </a:r>
              <a:r>
                <a:rPr lang="en-US" sz="1400">
                  <a:solidFill>
                    <a:srgbClr val="E6EDF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Clean, itemised digital receipts.</a:t>
              </a:r>
              <a:endParaRPr sz="1400">
                <a:solidFill>
                  <a:srgbClr val="E6EDF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33" name="Google Shape;133;p15"/>
          <p:cNvGrpSpPr/>
          <p:nvPr/>
        </p:nvGrpSpPr>
        <p:grpSpPr>
          <a:xfrm>
            <a:off x="609600" y="4895850"/>
            <a:ext cx="10972800" cy="1467000"/>
            <a:chOff x="0" y="0"/>
            <a:chExt cx="10972800" cy="1467000"/>
          </a:xfrm>
        </p:grpSpPr>
        <p:sp>
          <p:nvSpPr>
            <p:cNvPr id="134" name="Google Shape;134;p15"/>
            <p:cNvSpPr/>
            <p:nvPr/>
          </p:nvSpPr>
          <p:spPr>
            <a:xfrm>
              <a:off x="0" y="0"/>
              <a:ext cx="10972800" cy="1467000"/>
            </a:xfrm>
            <a:prstGeom prst="roundRect">
              <a:avLst>
                <a:gd fmla="val 7792" name="adj"/>
              </a:avLst>
            </a:prstGeom>
            <a:solidFill>
              <a:srgbClr val="0D1117"/>
            </a:solidFill>
            <a:ln cap="flat" cmpd="sng" w="1430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266700" y="152400"/>
              <a:ext cx="10439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898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USER FLOW</a:t>
              </a:r>
              <a:endParaRPr b="1" sz="1200">
                <a:solidFill>
                  <a:srgbClr val="F898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36" name="Google Shape;136;p15"/>
            <p:cNvGrpSpPr/>
            <p:nvPr/>
          </p:nvGrpSpPr>
          <p:grpSpPr>
            <a:xfrm>
              <a:off x="266700" y="495300"/>
              <a:ext cx="3048000" cy="685800"/>
              <a:chOff x="0" y="0"/>
              <a:chExt cx="3048000" cy="685800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0" y="0"/>
                <a:ext cx="30480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61B22"/>
              </a:solidFill>
              <a:ln cap="flat" cmpd="sng" w="9525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5"/>
              <p:cNvSpPr txBox="1"/>
              <p:nvPr/>
            </p:nvSpPr>
            <p:spPr>
              <a:xfrm>
                <a:off x="152400" y="114300"/>
                <a:ext cx="2743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5382A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STEP 01</a:t>
                </a:r>
                <a:endParaRPr b="1" sz="1000">
                  <a:solidFill>
                    <a:srgbClr val="5382A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1. Choose Category</a:t>
                </a:r>
                <a:endParaRPr b="1" sz="14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39" name="Google Shape;139;p15"/>
            <p:cNvSpPr txBox="1"/>
            <p:nvPr/>
          </p:nvSpPr>
          <p:spPr>
            <a:xfrm>
              <a:off x="3448050" y="6667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98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→</a:t>
              </a:r>
              <a:endParaRPr b="1" sz="1800">
                <a:solidFill>
                  <a:srgbClr val="F898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40" name="Google Shape;140;p15"/>
            <p:cNvGrpSpPr/>
            <p:nvPr/>
          </p:nvGrpSpPr>
          <p:grpSpPr>
            <a:xfrm>
              <a:off x="3924300" y="495300"/>
              <a:ext cx="3048000" cy="685800"/>
              <a:chOff x="0" y="0"/>
              <a:chExt cx="3048000" cy="685800"/>
            </a:xfrm>
          </p:grpSpPr>
          <p:sp>
            <p:nvSpPr>
              <p:cNvPr id="141" name="Google Shape;141;p15"/>
              <p:cNvSpPr/>
              <p:nvPr/>
            </p:nvSpPr>
            <p:spPr>
              <a:xfrm>
                <a:off x="0" y="0"/>
                <a:ext cx="30480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61B22"/>
              </a:solidFill>
              <a:ln cap="flat" cmpd="sng" w="9525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5"/>
              <p:cNvSpPr txBox="1"/>
              <p:nvPr/>
            </p:nvSpPr>
            <p:spPr>
              <a:xfrm>
                <a:off x="152400" y="114300"/>
                <a:ext cx="2743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5382A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STEP 02</a:t>
                </a:r>
                <a:endParaRPr b="1" sz="1000">
                  <a:solidFill>
                    <a:srgbClr val="5382A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2. Add by Code &amp; Qty</a:t>
                </a:r>
                <a:endParaRPr b="1" sz="14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43" name="Google Shape;143;p15"/>
            <p:cNvSpPr txBox="1"/>
            <p:nvPr/>
          </p:nvSpPr>
          <p:spPr>
            <a:xfrm>
              <a:off x="7105650" y="66675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98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→</a:t>
              </a:r>
              <a:endParaRPr b="1" sz="1800">
                <a:solidFill>
                  <a:srgbClr val="F898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grpSp>
          <p:nvGrpSpPr>
            <p:cNvPr id="144" name="Google Shape;144;p15"/>
            <p:cNvGrpSpPr/>
            <p:nvPr/>
          </p:nvGrpSpPr>
          <p:grpSpPr>
            <a:xfrm>
              <a:off x="7581900" y="495300"/>
              <a:ext cx="3124200" cy="685800"/>
              <a:chOff x="0" y="0"/>
              <a:chExt cx="3124200" cy="685800"/>
            </a:xfrm>
          </p:grpSpPr>
          <p:sp>
            <p:nvSpPr>
              <p:cNvPr id="145" name="Google Shape;145;p15"/>
              <p:cNvSpPr/>
              <p:nvPr/>
            </p:nvSpPr>
            <p:spPr>
              <a:xfrm>
                <a:off x="0" y="0"/>
                <a:ext cx="31242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61B22"/>
              </a:solidFill>
              <a:ln cap="flat" cmpd="sng" w="9525">
                <a:solidFill>
                  <a:srgbClr val="30363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5"/>
              <p:cNvSpPr txBox="1"/>
              <p:nvPr/>
            </p:nvSpPr>
            <p:spPr>
              <a:xfrm>
                <a:off x="152400" y="114300"/>
                <a:ext cx="28194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5382A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STEP 03</a:t>
                </a:r>
                <a:endParaRPr b="1" sz="1000">
                  <a:solidFill>
                    <a:srgbClr val="5382A1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3. Get Final Bill</a:t>
                </a:r>
                <a:endParaRPr b="1" sz="14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/>
        </p:nvSpPr>
        <p:spPr>
          <a:xfrm>
            <a:off x="548640" y="320040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Abstract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48640" y="1188720"/>
            <a:ext cx="6949500" cy="42063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685800" y="130759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868680" y="130759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1051560" y="130759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280160" y="1243584"/>
            <a:ext cx="608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abstract.txt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777240" y="1645920"/>
            <a:ext cx="64923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Restaurant bills are often written and added up by hand, which is slow and easy to get wrong. Our Java console program shows a menu by category, takes orders by item code and quantity, and keeps a running subtotal. The final bill lists every ordered item and adds 5% service tax and 18% GST. It also handles a wrong code, notices when nothing was ordered, and ends with a coupon message. We built it using only CO1, CO2 and CO3 concepts.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863840" y="1188720"/>
            <a:ext cx="1828800" cy="20118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8001000" y="130759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8183880" y="130759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8366760" y="130759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595360" y="1243584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7863840" y="17373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7863840" y="256032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menu items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9875520" y="1188720"/>
            <a:ext cx="1828800" cy="20118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10012680" y="130759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10195560" y="130759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0378440" y="130759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10607040" y="1243584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9875520" y="173736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9875520" y="256032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7863840" y="3383280"/>
            <a:ext cx="1828800" cy="20118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8001000" y="350215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8183880" y="350215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8366760" y="350215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595360" y="3438144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7863840" y="3931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7863840" y="475488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9875520" y="3383280"/>
            <a:ext cx="1828800" cy="20118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10012680" y="350215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10195560" y="350215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10378440" y="350215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10607040" y="3438144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9875520" y="3931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9875520" y="475488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arrays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17"/>
          <p:cNvGraphicFramePr/>
          <p:nvPr/>
        </p:nvGraphicFramePr>
        <p:xfrm>
          <a:off x="609600" y="186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{9C1EE3C9-4827-431A-864D-2CC10E27885D}</a:tableStyleId>
              </a:tblPr>
              <a:tblGrid>
                <a:gridCol w="5486400"/>
                <a:gridCol w="5486400"/>
              </a:tblGrid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Manual Methods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8982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Our Java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Written on paper pads.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11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Fast item code entry.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Calculators and human math.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11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Automatic subtotals and taxes.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Errors noticed late.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11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Instant invalid code handling.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9FA"/>
                    </a:solidFill>
                  </a:tcPr>
                </a:tc>
              </a:tr>
              <a:tr h="67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Messy, unclear slips.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11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Clean, itemised digital receipts.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17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b="1" i="0" lang="en-US" sz="3000" u="none" cap="none" strike="noStrike">
                <a:solidFill>
                  <a:srgbClr val="0D11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Comparison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-381000" y="5686425"/>
            <a:ext cx="1295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38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Takeaway: Removes hand calculation and makes billing perfectly consistent.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/>
          <p:nvPr/>
        </p:nvSpPr>
        <p:spPr>
          <a:xfrm>
            <a:off x="6096000" y="1571625"/>
            <a:ext cx="5486400" cy="4676775"/>
          </a:xfrm>
          <a:prstGeom prst="roundRect">
            <a:avLst>
              <a:gd fmla="val 2443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400800" y="5414962"/>
            <a:ext cx="1371600" cy="285750"/>
          </a:xfrm>
          <a:prstGeom prst="roundRect">
            <a:avLst>
              <a:gd fmla="val 13333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924800" y="5414962"/>
            <a:ext cx="1295400" cy="285750"/>
          </a:xfrm>
          <a:prstGeom prst="roundRect">
            <a:avLst>
              <a:gd fmla="val 13333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53568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90716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5278635"/>
            <a:ext cx="152400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" name="Google Shape;204;p18"/>
          <p:cNvGraphicFramePr/>
          <p:nvPr/>
        </p:nvGraphicFramePr>
        <p:xfrm>
          <a:off x="6400800" y="25479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{9C1EE3C9-4827-431A-864D-2CC10E27885D}</a:tableStyleId>
              </a:tblPr>
              <a:tblGrid>
                <a:gridCol w="863500"/>
                <a:gridCol w="2400150"/>
                <a:gridCol w="1613150"/>
              </a:tblGrid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5382A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5382A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Item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5382A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Price (Rs)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982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Chicken Biryani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220.0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982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Paneer Tikka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120.0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982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Egg Bhurji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110.0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AB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AB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+ 7 more items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A0AAB5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...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18"/>
          <p:cNvSpPr txBox="1"/>
          <p:nvPr/>
        </p:nvSpPr>
        <p:spPr>
          <a:xfrm>
            <a:off x="609600" y="609600"/>
            <a:ext cx="11582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5382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Menu Data</a:t>
            </a:r>
            <a:r>
              <a:rPr b="1" i="0" lang="en-US" sz="3000" u="none" cap="none" strike="noStrike">
                <a:solidFill>
                  <a:srgbClr val="0D11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&amp; Storage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09600" y="2179290"/>
            <a:ext cx="64008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11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1D Parallel Arrays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09600" y="2760315"/>
            <a:ext cx="49720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Menu stored across 4 parallel arrays: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code, name, price, quantity</a:t>
            </a:r>
            <a:r>
              <a:rPr b="0" i="0" lang="en-US" sz="165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The same index refers to the exact same item.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09600" y="3945135"/>
            <a:ext cx="64008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D11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Business Rules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400800" y="2119312"/>
            <a:ext cx="579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A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Sample of 10 Total Menu Items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990600" y="4526160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Categories: Non-Veg, Veg, Eggitarian, All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90600" y="4897635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 linear search by item code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990600" y="5269110"/>
            <a:ext cx="5715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5% Service Tax &amp; 18% GST applied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515100" y="5472112"/>
            <a:ext cx="1238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CO1: Data Types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039100" y="5472112"/>
            <a:ext cx="1162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CO3: 1D Arrays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/>
          <p:nvPr/>
        </p:nvSpPr>
        <p:spPr>
          <a:xfrm>
            <a:off x="548640" y="320040"/>
            <a:ext cx="7863900" cy="64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Program Flow and Topics Used</a:t>
            </a:r>
            <a:endParaRPr b="1" i="0" sz="2800" u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8778240" y="457200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■ CO1  </a:t>
            </a:r>
            <a:r>
              <a:rPr b="1" i="0" lang="en-US" sz="13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■ CO2  </a:t>
            </a:r>
            <a:r>
              <a:rPr b="1" i="0" lang="en-US" sz="13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■ CO3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11480" y="1165860"/>
            <a:ext cx="1737300" cy="4116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2651760" y="112014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categories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4892040" y="1120140"/>
            <a:ext cx="1737300" cy="502800"/>
          </a:xfrm>
          <a:prstGeom prst="parallelogram">
            <a:avLst>
              <a:gd fmla="val 25000" name="adj"/>
            </a:avLst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type (1 to 4)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7132320" y="1005840"/>
            <a:ext cx="1737300" cy="731400"/>
          </a:xfrm>
          <a:prstGeom prst="diamond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Type valid?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9372600" y="112014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menu (switch)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9"/>
          <p:cNvCxnSpPr/>
          <p:nvPr/>
        </p:nvCxnSpPr>
        <p:spPr>
          <a:xfrm>
            <a:off x="2148840" y="13716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19"/>
          <p:cNvCxnSpPr/>
          <p:nvPr/>
        </p:nvCxnSpPr>
        <p:spPr>
          <a:xfrm>
            <a:off x="4389120" y="13716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19"/>
          <p:cNvCxnSpPr/>
          <p:nvPr/>
        </p:nvCxnSpPr>
        <p:spPr>
          <a:xfrm>
            <a:off x="6629400" y="13716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19"/>
          <p:cNvCxnSpPr/>
          <p:nvPr/>
        </p:nvCxnSpPr>
        <p:spPr>
          <a:xfrm>
            <a:off x="8869680" y="13716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p19"/>
          <p:cNvSpPr txBox="1"/>
          <p:nvPr/>
        </p:nvSpPr>
        <p:spPr>
          <a:xfrm>
            <a:off x="8915400" y="112471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4892040" y="178308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Not 1 to 4: prints Wrong Type Selected, carries on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9372600" y="2171700"/>
            <a:ext cx="1737300" cy="502800"/>
          </a:xfrm>
          <a:prstGeom prst="parallelogram">
            <a:avLst>
              <a:gd fmla="val 25000" name="adj"/>
            </a:avLst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item code (0 = bill)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7132320" y="2057400"/>
            <a:ext cx="1737300" cy="731400"/>
          </a:xfrm>
          <a:prstGeom prst="diamond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Code = 0?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4892040" y="2171700"/>
            <a:ext cx="1737300" cy="502800"/>
          </a:xfrm>
          <a:prstGeom prst="parallelogram">
            <a:avLst>
              <a:gd fmla="val 25000" name="adj"/>
            </a:avLst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quantity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2651760" y="217170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Search code in array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11480" y="2057400"/>
            <a:ext cx="1737300" cy="731400"/>
          </a:xfrm>
          <a:prstGeom prst="diamond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Found?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9"/>
          <p:cNvCxnSpPr/>
          <p:nvPr/>
        </p:nvCxnSpPr>
        <p:spPr>
          <a:xfrm>
            <a:off x="10241280" y="1623060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19"/>
          <p:cNvCxnSpPr/>
          <p:nvPr/>
        </p:nvCxnSpPr>
        <p:spPr>
          <a:xfrm rot="10800000">
            <a:off x="8869800" y="242316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19"/>
          <p:cNvCxnSpPr/>
          <p:nvPr/>
        </p:nvCxnSpPr>
        <p:spPr>
          <a:xfrm rot="10800000">
            <a:off x="6629520" y="242316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19"/>
          <p:cNvCxnSpPr/>
          <p:nvPr/>
        </p:nvCxnSpPr>
        <p:spPr>
          <a:xfrm rot="10800000">
            <a:off x="4389240" y="242316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19"/>
          <p:cNvCxnSpPr/>
          <p:nvPr/>
        </p:nvCxnSpPr>
        <p:spPr>
          <a:xfrm rot="10800000">
            <a:off x="2148960" y="242316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19"/>
          <p:cNvSpPr txBox="1"/>
          <p:nvPr/>
        </p:nvSpPr>
        <p:spPr>
          <a:xfrm>
            <a:off x="6858000" y="217627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11475720" y="2240280"/>
            <a:ext cx="365700" cy="3657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100" u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5" name="Google Shape;245;p19"/>
          <p:cNvCxnSpPr/>
          <p:nvPr/>
        </p:nvCxnSpPr>
        <p:spPr>
          <a:xfrm rot="10800000">
            <a:off x="11110020" y="2423160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p19"/>
          <p:cNvSpPr txBox="1"/>
          <p:nvPr/>
        </p:nvSpPr>
        <p:spPr>
          <a:xfrm>
            <a:off x="411480" y="326898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quantity and subtotal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2651760" y="326898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 Invalid Code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9"/>
          <p:cNvCxnSpPr/>
          <p:nvPr/>
        </p:nvCxnSpPr>
        <p:spPr>
          <a:xfrm>
            <a:off x="1280160" y="2788920"/>
            <a:ext cx="0" cy="4800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9" name="Google Shape;249;p19"/>
          <p:cNvSpPr txBox="1"/>
          <p:nvPr/>
        </p:nvSpPr>
        <p:spPr>
          <a:xfrm>
            <a:off x="1353312" y="281635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19"/>
          <p:cNvCxnSpPr/>
          <p:nvPr/>
        </p:nvCxnSpPr>
        <p:spPr>
          <a:xfrm>
            <a:off x="1280160" y="2788920"/>
            <a:ext cx="0" cy="1371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19"/>
          <p:cNvCxnSpPr/>
          <p:nvPr/>
        </p:nvCxnSpPr>
        <p:spPr>
          <a:xfrm>
            <a:off x="1280160" y="2926080"/>
            <a:ext cx="22404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19"/>
          <p:cNvCxnSpPr/>
          <p:nvPr/>
        </p:nvCxnSpPr>
        <p:spPr>
          <a:xfrm>
            <a:off x="3520440" y="2926080"/>
            <a:ext cx="0" cy="3429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19"/>
          <p:cNvSpPr txBox="1"/>
          <p:nvPr/>
        </p:nvSpPr>
        <p:spPr>
          <a:xfrm>
            <a:off x="1828800" y="2944368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9"/>
          <p:cNvCxnSpPr/>
          <p:nvPr/>
        </p:nvCxnSpPr>
        <p:spPr>
          <a:xfrm>
            <a:off x="1280160" y="3771900"/>
            <a:ext cx="0" cy="6171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19"/>
          <p:cNvCxnSpPr/>
          <p:nvPr/>
        </p:nvCxnSpPr>
        <p:spPr>
          <a:xfrm>
            <a:off x="3520440" y="3771900"/>
            <a:ext cx="0" cy="6171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19"/>
          <p:cNvSpPr/>
          <p:nvPr/>
        </p:nvSpPr>
        <p:spPr>
          <a:xfrm>
            <a:off x="1097280" y="4389120"/>
            <a:ext cx="365700" cy="3657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100" u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3337560" y="4389120"/>
            <a:ext cx="365700" cy="3657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0" i="0" sz="1100" u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7132320" y="3154680"/>
            <a:ext cx="1737300" cy="731400"/>
          </a:xfrm>
          <a:prstGeom prst="diamond">
            <a:avLst/>
          </a:prstGeom>
          <a:solidFill>
            <a:srgbClr val="F8F9FA"/>
          </a:solidFill>
          <a:ln cap="flat" cmpd="sng" w="1905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&gt; 0?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9372600" y="326898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 bill: items, 5% service tax, 18% GST, coupon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7132320" y="4320540"/>
            <a:ext cx="1737300" cy="502800"/>
          </a:xfrm>
          <a:prstGeom prst="rect">
            <a:avLst/>
          </a:prstGeom>
          <a:solidFill>
            <a:srgbClr val="F8F9FA"/>
          </a:solidFill>
          <a:ln cap="flat" cmpd="sng" w="1905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Print: No items were ordered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9372600" y="4366260"/>
            <a:ext cx="1737300" cy="411600"/>
          </a:xfrm>
          <a:prstGeom prst="ellipse">
            <a:avLst/>
          </a:prstGeom>
          <a:solidFill>
            <a:srgbClr val="F8F9FA"/>
          </a:solidFill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b="0" i="0" sz="11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9"/>
          <p:cNvCxnSpPr/>
          <p:nvPr/>
        </p:nvCxnSpPr>
        <p:spPr>
          <a:xfrm>
            <a:off x="8001000" y="2788920"/>
            <a:ext cx="0" cy="3657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3" name="Google Shape;263;p19"/>
          <p:cNvSpPr txBox="1"/>
          <p:nvPr/>
        </p:nvSpPr>
        <p:spPr>
          <a:xfrm>
            <a:off x="8074152" y="281635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9"/>
          <p:cNvCxnSpPr/>
          <p:nvPr/>
        </p:nvCxnSpPr>
        <p:spPr>
          <a:xfrm>
            <a:off x="8869680" y="352044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19"/>
          <p:cNvSpPr txBox="1"/>
          <p:nvPr/>
        </p:nvSpPr>
        <p:spPr>
          <a:xfrm>
            <a:off x="8915400" y="327355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19"/>
          <p:cNvCxnSpPr/>
          <p:nvPr/>
        </p:nvCxnSpPr>
        <p:spPr>
          <a:xfrm>
            <a:off x="8001000" y="3886200"/>
            <a:ext cx="0" cy="4344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19"/>
          <p:cNvSpPr txBox="1"/>
          <p:nvPr/>
        </p:nvSpPr>
        <p:spPr>
          <a:xfrm>
            <a:off x="8074152" y="3913632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57606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strike="noStrike">
              <a:solidFill>
                <a:srgbClr val="5760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9"/>
          <p:cNvCxnSpPr/>
          <p:nvPr/>
        </p:nvCxnSpPr>
        <p:spPr>
          <a:xfrm>
            <a:off x="10241280" y="3771900"/>
            <a:ext cx="0" cy="59430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19"/>
          <p:cNvCxnSpPr/>
          <p:nvPr/>
        </p:nvCxnSpPr>
        <p:spPr>
          <a:xfrm>
            <a:off x="8869680" y="457200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8B94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19"/>
          <p:cNvSpPr/>
          <p:nvPr/>
        </p:nvSpPr>
        <p:spPr>
          <a:xfrm>
            <a:off x="411480" y="5120640"/>
            <a:ext cx="3657600" cy="14631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548640" y="523951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731520" y="523951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914400" y="523951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1143000" y="5175504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CO1 | Basics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548640" y="5468112"/>
            <a:ext cx="33834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Algorithm and flowchart first, IPO model (input: category, code, quantity; output: bill), int, double and boolean, arithmetic for price x quantity and the taxes, Scanner input and println output.</a:t>
            </a:r>
            <a:endParaRPr b="0" i="0" sz="1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4251960" y="5120640"/>
            <a:ext cx="3657600" cy="14631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4389120" y="523951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4572000" y="523951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4754880" y="523951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4983480" y="5175504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CO2 | Control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4389120" y="5468112"/>
            <a:ext cx="33834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Switch-case with default and break for the menu, if-else for found or invalid and total &gt; 0, while loops for the menu, the ordering loop that ends on 0 and the search, plus a boolean flag.</a:t>
            </a:r>
            <a:endParaRPr b="0" i="0" sz="1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8092440" y="5120640"/>
            <a:ext cx="3657600" cy="14631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8229600" y="5239512"/>
            <a:ext cx="109800" cy="109800"/>
          </a:xfrm>
          <a:prstGeom prst="ellipse">
            <a:avLst/>
          </a:prstGeom>
          <a:solidFill>
            <a:srgbClr val="FF5F56"/>
          </a:solidFill>
          <a:ln cap="flat" cmpd="sng" w="12700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8412480" y="5239512"/>
            <a:ext cx="109800" cy="109800"/>
          </a:xfrm>
          <a:prstGeom prst="ellipse">
            <a:avLst/>
          </a:prstGeom>
          <a:solidFill>
            <a:srgbClr val="FFBD2E"/>
          </a:solidFill>
          <a:ln cap="flat" cmpd="sng" w="12700">
            <a:solidFill>
              <a:srgbClr val="FFB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8595360" y="5239512"/>
            <a:ext cx="109800" cy="109800"/>
          </a:xfrm>
          <a:prstGeom prst="ellipse">
            <a:avLst/>
          </a:prstGeom>
          <a:solidFill>
            <a:srgbClr val="27C93F"/>
          </a:solidFill>
          <a:ln cap="flat" cmpd="sng" w="12700">
            <a:solidFill>
              <a:srgbClr val="27C9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8823960" y="5175504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982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89820"/>
                </a:solidFill>
                <a:latin typeface="Consolas"/>
                <a:ea typeface="Consolas"/>
                <a:cs typeface="Consolas"/>
                <a:sym typeface="Consolas"/>
              </a:rPr>
              <a:t>CO3 |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8229600" y="5468112"/>
            <a:ext cx="3383400" cy="109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 methods split the program into parts, four parallel 1D arrays hold the data, and we use traversal, linear search by item code and a running total.</a:t>
            </a:r>
            <a:endParaRPr b="0" i="0" sz="1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"/>
          <p:cNvSpPr txBox="1"/>
          <p:nvPr/>
        </p:nvSpPr>
        <p:spPr>
          <a:xfrm>
            <a:off x="609600" y="400050"/>
            <a:ext cx="10972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5382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Execution Output </a:t>
            </a:r>
            <a:r>
              <a:rPr b="1" lang="en-US" sz="30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 Receipt Demo</a:t>
            </a:r>
            <a:endParaRPr b="1" sz="300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293" name="Google Shape;293;p20"/>
          <p:cNvGrpSpPr/>
          <p:nvPr/>
        </p:nvGrpSpPr>
        <p:grpSpPr>
          <a:xfrm>
            <a:off x="609600" y="1104900"/>
            <a:ext cx="5238900" cy="5238900"/>
            <a:chOff x="0" y="0"/>
            <a:chExt cx="5238900" cy="5238900"/>
          </a:xfrm>
        </p:grpSpPr>
        <p:sp>
          <p:nvSpPr>
            <p:cNvPr id="294" name="Google Shape;294;p20"/>
            <p:cNvSpPr/>
            <p:nvPr/>
          </p:nvSpPr>
          <p:spPr>
            <a:xfrm>
              <a:off x="0" y="0"/>
              <a:ext cx="5238900" cy="5238900"/>
            </a:xfrm>
            <a:prstGeom prst="roundRect">
              <a:avLst>
                <a:gd fmla="val 1818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0" y="0"/>
              <a:ext cx="5238900" cy="362100"/>
            </a:xfrm>
            <a:prstGeom prst="roundRect">
              <a:avLst>
                <a:gd fmla="val 26315" name="adj"/>
              </a:avLst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0" y="266700"/>
              <a:ext cx="5238900" cy="954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133350" y="12382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304800" y="12382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476250" y="12382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0"/>
            <p:cNvSpPr txBox="1"/>
            <p:nvPr/>
          </p:nvSpPr>
          <p:spPr>
            <a:xfrm>
              <a:off x="762000" y="76200"/>
              <a:ext cx="381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Console_Order_Workflow.log</a:t>
              </a:r>
              <a:endParaRPr b="0" sz="110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301" name="Google Shape;301;p20"/>
          <p:cNvPicPr preferRelativeResize="0"/>
          <p:nvPr/>
        </p:nvPicPr>
        <p:blipFill rotWithShape="1">
          <a:blip r:embed="rId3">
            <a:alphaModFix/>
          </a:blip>
          <a:srcRect b="17632" l="0" r="0" t="17639"/>
          <a:stretch/>
        </p:blipFill>
        <p:spPr>
          <a:xfrm>
            <a:off x="762000" y="1581150"/>
            <a:ext cx="4934100" cy="4629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20"/>
          <p:cNvGrpSpPr/>
          <p:nvPr/>
        </p:nvGrpSpPr>
        <p:grpSpPr>
          <a:xfrm>
            <a:off x="6134100" y="1104900"/>
            <a:ext cx="5448300" cy="5238900"/>
            <a:chOff x="0" y="0"/>
            <a:chExt cx="5448300" cy="5238900"/>
          </a:xfrm>
        </p:grpSpPr>
        <p:sp>
          <p:nvSpPr>
            <p:cNvPr id="303" name="Google Shape;303;p20"/>
            <p:cNvSpPr/>
            <p:nvPr/>
          </p:nvSpPr>
          <p:spPr>
            <a:xfrm>
              <a:off x="0" y="0"/>
              <a:ext cx="5448300" cy="5238900"/>
            </a:xfrm>
            <a:prstGeom prst="roundRect">
              <a:avLst>
                <a:gd fmla="val 1818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0"/>
            <p:cNvSpPr/>
            <p:nvPr/>
          </p:nvSpPr>
          <p:spPr>
            <a:xfrm>
              <a:off x="0" y="0"/>
              <a:ext cx="5448300" cy="362100"/>
            </a:xfrm>
            <a:prstGeom prst="roundRect">
              <a:avLst>
                <a:gd fmla="val 26315" name="adj"/>
              </a:avLst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0" y="266700"/>
              <a:ext cx="5448300" cy="95400"/>
            </a:xfrm>
            <a:prstGeom prst="rect">
              <a:avLst/>
            </a:prstGeom>
            <a:solidFill>
              <a:srgbClr val="21262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33350" y="12382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304800" y="12382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476250" y="12382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0"/>
            <p:cNvSpPr txBox="1"/>
            <p:nvPr/>
          </p:nvSpPr>
          <p:spPr>
            <a:xfrm>
              <a:off x="762000" y="76200"/>
              <a:ext cx="3924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B949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Final_Bill_Summary.txt</a:t>
              </a:r>
              <a:endParaRPr b="0" sz="1100">
                <a:solidFill>
                  <a:srgbClr val="8B949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310" name="Google Shape;310;p20"/>
          <p:cNvPicPr preferRelativeResize="0"/>
          <p:nvPr/>
        </p:nvPicPr>
        <p:blipFill rotWithShape="1">
          <a:blip r:embed="rId4">
            <a:alphaModFix/>
          </a:blip>
          <a:srcRect b="0" l="8229" r="8229" t="0"/>
          <a:stretch/>
        </p:blipFill>
        <p:spPr>
          <a:xfrm>
            <a:off x="6286500" y="1581150"/>
            <a:ext cx="5143500" cy="11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20"/>
          <p:cNvGrpSpPr/>
          <p:nvPr/>
        </p:nvGrpSpPr>
        <p:grpSpPr>
          <a:xfrm>
            <a:off x="6324600" y="2914650"/>
            <a:ext cx="5067300" cy="1524000"/>
            <a:chOff x="0" y="0"/>
            <a:chExt cx="5067300" cy="1524000"/>
          </a:xfrm>
        </p:grpSpPr>
        <p:sp>
          <p:nvSpPr>
            <p:cNvPr id="312" name="Google Shape;312;p20"/>
            <p:cNvSpPr/>
            <p:nvPr/>
          </p:nvSpPr>
          <p:spPr>
            <a:xfrm>
              <a:off x="0" y="0"/>
              <a:ext cx="5067300" cy="1524000"/>
            </a:xfrm>
            <a:prstGeom prst="roundRect">
              <a:avLst>
                <a:gd fmla="val 5000" name="adj"/>
              </a:avLst>
            </a:prstGeom>
            <a:solidFill>
              <a:srgbClr val="0D1117"/>
            </a:solidFill>
            <a:ln cap="flat" cmpd="sng" w="9525">
              <a:solidFill>
                <a:srgbClr val="2126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90500" y="152400"/>
              <a:ext cx="46863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88">
                  <a:solidFill>
                    <a:srgbClr val="F898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Bill Calculation Breakdown</a:t>
              </a:r>
              <a:endParaRPr b="1" sz="1388">
                <a:solidFill>
                  <a:srgbClr val="F898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9D1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Subtotal: </a:t>
              </a:r>
              <a:r>
                <a:rPr b="0" lang="en-US" sz="1203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440.0</a:t>
              </a:r>
              <a:r>
                <a:rPr b="0" lang="en-US" sz="1203">
                  <a:solidFill>
                    <a:srgbClr val="C9D1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(2 x Chicken Biryani @ 220.0)</a:t>
              </a:r>
              <a:endParaRPr b="0" sz="1203">
                <a:solidFill>
                  <a:srgbClr val="C9D1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9D1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Service Tax (5%): </a:t>
              </a:r>
              <a:r>
                <a:rPr b="0" lang="en-US" sz="1203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22.0</a:t>
              </a:r>
              <a:endParaRPr b="0" sz="1203">
                <a:solidFill>
                  <a:srgbClr val="C9D1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C9D1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GST (18%): </a:t>
              </a:r>
              <a:r>
                <a:rPr b="0" lang="en-US" sz="1203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79.2</a:t>
              </a:r>
              <a:endParaRPr b="0" sz="1203">
                <a:solidFill>
                  <a:srgbClr val="C9D1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3">
                  <a:solidFill>
                    <a:srgbClr val="3FB95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Final Total Payable: </a:t>
              </a:r>
              <a:r>
                <a:rPr b="1" lang="en-US" sz="1295">
                  <a:solidFill>
                    <a:srgbClr val="3FB95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Rs 541.2</a:t>
              </a:r>
              <a:endParaRPr b="1" sz="1203">
                <a:solidFill>
                  <a:srgbClr val="3FB950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14" name="Google Shape;314;p20"/>
          <p:cNvGrpSpPr/>
          <p:nvPr/>
        </p:nvGrpSpPr>
        <p:grpSpPr>
          <a:xfrm>
            <a:off x="6324600" y="4591050"/>
            <a:ext cx="5067300" cy="1524000"/>
            <a:chOff x="0" y="0"/>
            <a:chExt cx="5067300" cy="1524000"/>
          </a:xfrm>
        </p:grpSpPr>
        <p:sp>
          <p:nvSpPr>
            <p:cNvPr id="315" name="Google Shape;315;p20"/>
            <p:cNvSpPr/>
            <p:nvPr/>
          </p:nvSpPr>
          <p:spPr>
            <a:xfrm>
              <a:off x="0" y="0"/>
              <a:ext cx="5067300" cy="1524000"/>
            </a:xfrm>
            <a:prstGeom prst="roundRect">
              <a:avLst>
                <a:gd fmla="val 5000" name="adj"/>
              </a:avLst>
            </a:prstGeom>
            <a:solidFill>
              <a:srgbClr val="0D1117"/>
            </a:solidFill>
            <a:ln cap="flat" cmpd="sng" w="9525">
              <a:solidFill>
                <a:srgbClr val="2386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190500" y="152400"/>
              <a:ext cx="46863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FB95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Reward &amp; Promotional Offer</a:t>
              </a:r>
              <a:endParaRPr b="1" sz="1500">
                <a:solidFill>
                  <a:srgbClr val="3FB95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9D1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Reward: </a:t>
              </a:r>
              <a:r>
                <a:rPr b="1" lang="en-US" sz="13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Rs 100 Movie Ticket Coupon</a:t>
              </a:r>
              <a:endParaRPr b="0" sz="1300">
                <a:solidFill>
                  <a:srgbClr val="C9D1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9D1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Partner Theater: </a:t>
              </a:r>
              <a:r>
                <a:rPr b="0" lang="en-US" sz="13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Group6 Theater</a:t>
              </a:r>
              <a:endParaRPr b="0" sz="1300">
                <a:solidFill>
                  <a:srgbClr val="C9D1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9D1D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• Promo Code: </a:t>
              </a:r>
              <a:r>
                <a:rPr b="1" lang="en-US" sz="1300">
                  <a:solidFill>
                    <a:srgbClr val="F89820"/>
                  </a:solidFill>
                  <a:highlight>
                    <a:srgbClr val="161B22"/>
                  </a:highlight>
                  <a:latin typeface="JetBrains Mono"/>
                  <a:ea typeface="JetBrains Mono"/>
                  <a:cs typeface="JetBrains Mono"/>
                  <a:sym typeface="JetBrains Mono"/>
                </a:rPr>
                <a:t>Enjoy100G6</a:t>
              </a:r>
              <a:endParaRPr b="0" sz="1300">
                <a:solidFill>
                  <a:srgbClr val="C9D1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/>
        </p:nvSpPr>
        <p:spPr>
          <a:xfrm>
            <a:off x="1333500" y="952500"/>
            <a:ext cx="9525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0D11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You!</a:t>
            </a:r>
            <a:endParaRPr b="1" sz="5600">
              <a:solidFill>
                <a:srgbClr val="0D111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>
            <a:off x="1809750" y="2190750"/>
            <a:ext cx="4000500" cy="1238400"/>
            <a:chOff x="0" y="0"/>
            <a:chExt cx="4000500" cy="1238400"/>
          </a:xfrm>
        </p:grpSpPr>
        <p:sp>
          <p:nvSpPr>
            <p:cNvPr id="323" name="Google Shape;323;p21"/>
            <p:cNvSpPr/>
            <p:nvPr/>
          </p:nvSpPr>
          <p:spPr>
            <a:xfrm>
              <a:off x="0" y="0"/>
              <a:ext cx="4000500" cy="1238400"/>
            </a:xfrm>
            <a:prstGeom prst="roundRect">
              <a:avLst>
                <a:gd fmla="val 9230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1"/>
            <p:cNvSpPr txBox="1"/>
            <p:nvPr/>
          </p:nvSpPr>
          <p:spPr>
            <a:xfrm>
              <a:off x="228600" y="190500"/>
              <a:ext cx="35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5382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Presenter 01</a:t>
              </a:r>
              <a:endParaRPr b="1" sz="1100">
                <a:solidFill>
                  <a:srgbClr val="5382A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Gangavarapu Yasaswi Ram</a:t>
              </a:r>
              <a:endParaRPr b="1" sz="1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898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ID: 2620040139</a:t>
              </a:r>
              <a:endParaRPr sz="1300">
                <a:solidFill>
                  <a:srgbClr val="F898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25" name="Google Shape;325;p21"/>
          <p:cNvGrpSpPr/>
          <p:nvPr/>
        </p:nvGrpSpPr>
        <p:grpSpPr>
          <a:xfrm>
            <a:off x="6381750" y="2190750"/>
            <a:ext cx="4000500" cy="1238400"/>
            <a:chOff x="0" y="0"/>
            <a:chExt cx="4000500" cy="1238400"/>
          </a:xfrm>
        </p:grpSpPr>
        <p:sp>
          <p:nvSpPr>
            <p:cNvPr id="326" name="Google Shape;326;p21"/>
            <p:cNvSpPr/>
            <p:nvPr/>
          </p:nvSpPr>
          <p:spPr>
            <a:xfrm>
              <a:off x="0" y="0"/>
              <a:ext cx="4000500" cy="1238400"/>
            </a:xfrm>
            <a:prstGeom prst="roundRect">
              <a:avLst>
                <a:gd fmla="val 9230" name="adj"/>
              </a:avLst>
            </a:prstGeom>
            <a:solidFill>
              <a:srgbClr val="0D11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1"/>
            <p:cNvSpPr txBox="1"/>
            <p:nvPr/>
          </p:nvSpPr>
          <p:spPr>
            <a:xfrm>
              <a:off x="228600" y="190500"/>
              <a:ext cx="3543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5382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Presenter 02</a:t>
              </a:r>
              <a:endParaRPr b="1" sz="1100">
                <a:solidFill>
                  <a:srgbClr val="5382A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Dondapati Nikhil Reddy</a:t>
              </a:r>
              <a:endParaRPr b="1" sz="17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8982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ID: 2620040119</a:t>
              </a:r>
              <a:endParaRPr sz="1300">
                <a:solidFill>
                  <a:srgbClr val="F8982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328" name="Google Shape;328;p21"/>
          <p:cNvSpPr txBox="1"/>
          <p:nvPr/>
        </p:nvSpPr>
        <p:spPr>
          <a:xfrm>
            <a:off x="1809750" y="3805500"/>
            <a:ext cx="7544100" cy="596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90500" spcFirstLastPara="1" rIns="19050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382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Upcoming Session</a:t>
            </a:r>
            <a:endParaRPr b="1" sz="1300">
              <a:solidFill>
                <a:srgbClr val="5382A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D11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Next: Live output and code walkthrough</a:t>
            </a:r>
            <a:endParaRPr b="1" sz="2200">
              <a:solidFill>
                <a:srgbClr val="0D111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4191000" y="5191125"/>
            <a:ext cx="3810000" cy="277200"/>
          </a:xfrm>
          <a:prstGeom prst="rect">
            <a:avLst/>
          </a:prstGeom>
          <a:solidFill>
            <a:srgbClr val="F89820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D11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Questions &amp; Discussion?</a:t>
            </a:r>
            <a:endParaRPr b="1" sz="1800">
              <a:solidFill>
                <a:srgbClr val="0D111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